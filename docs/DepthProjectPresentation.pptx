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1A17"/>
                </a:solidFill>
              </a:rPr>
              <a:t>Distillation and Edge-Aware Loss for
Efficient Monocular Depth Estimation</a:t>
            </a:r>
          </a:p>
          <a:p>
            <a:r>
              <a:rPr sz="1400">
                <a:solidFill>
                  <a:srgbClr val="645A54"/>
                </a:solidFill>
              </a:rPr>
              <a:t>Cal Poly Pomona  •  ECE 4990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1A17"/>
                </a:solidFill>
              </a:defRPr>
            </a:pPr>
            <a:r>
              <a:t>Alexander Assal  •  Parsa Ghasemi</a:t>
            </a:r>
          </a:p>
          <a:p>
            <a:pPr>
              <a:defRPr sz="1800">
                <a:solidFill>
                  <a:srgbClr val="A84425"/>
                </a:solidFill>
              </a:defRPr>
            </a:pPr>
            <a:r>
              <a:t>GitHub: https://github.com/arassal/depth-project</a:t>
            </a:r>
          </a:p>
          <a:p>
            <a:pPr>
              <a:defRPr sz="1400">
                <a:solidFill>
                  <a:srgbClr val="645A54"/>
                </a:solidFill>
              </a:defRPr>
            </a:pPr>
            <a:r>
              <a:t>Student: Depth Anything Small  •  Teacher: Depth Anything Large  •  NYU-v2 + KITTI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84425"/>
                </a:solidFill>
              </a:defRPr>
            </a:pPr>
            <a:r>
              <a:t>OUTLINE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1A17"/>
                </a:solidFill>
              </a:rPr>
              <a:t>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F1A17"/>
                </a:solidFill>
              </a:defRPr>
            </a:pPr>
            <a:r>
              <a:t>• Problem: monocular relative depth from a single RGB image</a:t>
            </a:r>
          </a:p>
          <a:p>
            <a:pPr>
              <a:spcAft>
                <a:spcPts val="600"/>
              </a:spcAft>
              <a:defRPr sz="2000">
                <a:solidFill>
                  <a:srgbClr val="1F1A17"/>
                </a:solidFill>
              </a:defRPr>
            </a:pPr>
            <a:r>
              <a:t>• Approach: distill Depth Anything Large → Small + multi-scale gradient loss</a:t>
            </a:r>
          </a:p>
          <a:p>
            <a:pPr>
              <a:spcAft>
                <a:spcPts val="600"/>
              </a:spcAft>
              <a:defRPr sz="2000">
                <a:solidFill>
                  <a:srgbClr val="1F1A17"/>
                </a:solidFill>
              </a:defRPr>
            </a:pPr>
            <a:r>
              <a:t>• Datasets: NYU-v2 (indoor) and KITTI eigen subset (outdoor)</a:t>
            </a:r>
          </a:p>
          <a:p>
            <a:pPr>
              <a:spcAft>
                <a:spcPts val="600"/>
              </a:spcAft>
              <a:defRPr sz="2000">
                <a:solidFill>
                  <a:srgbClr val="1F1A17"/>
                </a:solidFill>
              </a:defRPr>
            </a:pPr>
            <a:r>
              <a:t>• Three-axis hyperparameter sweep: distillation α, gradient β, learning rate</a:t>
            </a:r>
          </a:p>
          <a:p>
            <a:pPr>
              <a:spcAft>
                <a:spcPts val="600"/>
              </a:spcAft>
              <a:defRPr sz="2000">
                <a:solidFill>
                  <a:srgbClr val="1F1A17"/>
                </a:solidFill>
              </a:defRPr>
            </a:pPr>
            <a:r>
              <a:t>• Main finding: learning rate is the dominant hyperparameter</a:t>
            </a:r>
          </a:p>
          <a:p>
            <a:pPr>
              <a:spcAft>
                <a:spcPts val="600"/>
              </a:spcAft>
              <a:defRPr sz="2000">
                <a:solidFill>
                  <a:srgbClr val="1F1A17"/>
                </a:solidFill>
              </a:defRPr>
            </a:pPr>
            <a:r>
              <a:t>• Best stable config slightly beats zero-shot; aggressive lr collapses the student</a:t>
            </a:r>
          </a:p>
          <a:p>
            <a:pPr>
              <a:spcAft>
                <a:spcPts val="600"/>
              </a:spcAft>
              <a:defRPr sz="2000">
                <a:solidFill>
                  <a:srgbClr val="1F1A17"/>
                </a:solidFill>
              </a:defRPr>
            </a:pPr>
            <a:r>
              <a:t>• Live demo: local upload-and-predict web app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84425"/>
                </a:solidFill>
              </a:defRPr>
            </a:pPr>
            <a: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1A17"/>
                </a:solidFill>
              </a:rPr>
              <a:t>Monocular Depth is Ill-Posed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F1A17"/>
                </a:solidFill>
              </a:defRPr>
            </a:pPr>
            <a:r>
              <a:t>• A single image is consistent with infinitely many world geometries</a:t>
            </a:r>
          </a:p>
          <a:p>
            <a:pPr>
              <a:spcAft>
                <a:spcPts val="600"/>
              </a:spcAft>
              <a:defRPr sz="2000">
                <a:solidFill>
                  <a:srgbClr val="1F1A17"/>
                </a:solidFill>
              </a:defRPr>
            </a:pPr>
            <a:r>
              <a:t>• Recovery is up to scale + shift unless extra information is supplied</a:t>
            </a:r>
          </a:p>
          <a:p>
            <a:pPr>
              <a:spcAft>
                <a:spcPts val="600"/>
              </a:spcAft>
              <a:defRPr sz="2000">
                <a:solidFill>
                  <a:srgbClr val="1F1A17"/>
                </a:solidFill>
              </a:defRPr>
            </a:pPr>
            <a:r>
              <a:t>• Modern systems train for relative depth, align scale + shift at eval</a:t>
            </a:r>
          </a:p>
          <a:p>
            <a:pPr>
              <a:spcAft>
                <a:spcPts val="600"/>
              </a:spcAft>
              <a:defRPr sz="2000">
                <a:solidFill>
                  <a:srgbClr val="1F1A17"/>
                </a:solidFill>
              </a:defRPr>
            </a:pPr>
            <a:r>
              <a:t>• Backbone: DPT head (Ranftl 2021) on DINOv2 ViT encoder (Oquab 2023)</a:t>
            </a:r>
          </a:p>
          <a:p>
            <a:pPr>
              <a:spcAft>
                <a:spcPts val="600"/>
              </a:spcAft>
              <a:defRPr sz="2000">
                <a:solidFill>
                  <a:srgbClr val="1F1A17"/>
                </a:solidFill>
              </a:defRPr>
            </a:pPr>
            <a:r>
              <a:t>• Foundation: Depth Anything (Yang 2024): scale + pseudo-labeled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1554480"/>
            <a:ext cx="3931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F1A17"/>
                </a:solidFill>
              </a:defRPr>
            </a:pPr>
            <a:r>
              <a:t>• Why this matters here:</a:t>
            </a:r>
          </a:p>
          <a:p>
            <a:pPr>
              <a:spcAft>
                <a:spcPts val="600"/>
              </a:spcAft>
              <a:defRPr sz="1600">
                <a:solidFill>
                  <a:srgbClr val="1F1A17"/>
                </a:solidFill>
              </a:defRPr>
            </a:pPr>
            <a:r>
              <a:t>• Depth Anything Small fits a 4 GB laptop GPU</a:t>
            </a:r>
          </a:p>
          <a:p>
            <a:pPr>
              <a:spcAft>
                <a:spcPts val="600"/>
              </a:spcAft>
              <a:defRPr sz="1600">
                <a:solidFill>
                  <a:srgbClr val="1F1A17"/>
                </a:solidFill>
              </a:defRPr>
            </a:pPr>
            <a:r>
              <a:t>• Depth Anything Large is the right teacher for distillation</a:t>
            </a:r>
          </a:p>
          <a:p>
            <a:pPr>
              <a:spcAft>
                <a:spcPts val="600"/>
              </a:spcAft>
              <a:defRPr sz="1600">
                <a:solidFill>
                  <a:srgbClr val="1F1A17"/>
                </a:solidFill>
              </a:defRPr>
            </a:pPr>
            <a:r>
              <a:t>• We want to push the Small student above its own pretrained baseline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84425"/>
                </a:solidFill>
              </a:defRPr>
            </a:pPr>
            <a:r>
              <a:t>RELATED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1A17"/>
                </a:solidFill>
              </a:rPr>
              <a:t>Related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6949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Monocular depth (Eigen 2014, MiDaS 2022, ZoeDepth 2023)</a:t>
            </a:r>
          </a:p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DPT dense prediction head (Ranftl 2021)</a:t>
            </a:r>
          </a:p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Depth Anything v1/v2 (Yang 2024): 1.5M labeled + 62M pseudo-labeled</a:t>
            </a:r>
          </a:p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DINOv2 backbone (Oquab 2023)</a:t>
            </a:r>
          </a:p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Knowledge distillation (Hinton 2015)</a:t>
            </a:r>
          </a:p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Distill-Any-Depth (He 2025): affine-invariant output-level distillation</a:t>
            </a:r>
          </a:p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ZoeDepth multi-scale gradient L1 (Bhat 2023)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137160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F1A17"/>
                </a:solidFill>
              </a:defRPr>
            </a:pPr>
            <a:r>
              <a:t>• What we lift:</a:t>
            </a:r>
          </a:p>
          <a:p>
            <a:pPr>
              <a:spcAft>
                <a:spcPts val="600"/>
              </a:spcAft>
              <a:defRPr sz="1400">
                <a:solidFill>
                  <a:srgbClr val="1F1A17"/>
                </a:solidFill>
              </a:defRPr>
            </a:pPr>
            <a:r>
              <a:t>• Affine-invariant output-level distillation → He 2025</a:t>
            </a:r>
          </a:p>
          <a:p>
            <a:pPr>
              <a:spcAft>
                <a:spcPts val="600"/>
              </a:spcAft>
              <a:defRPr sz="1400">
                <a:solidFill>
                  <a:srgbClr val="1F1A17"/>
                </a:solidFill>
              </a:defRPr>
            </a:pPr>
            <a:r>
              <a:t>• Multi-scale gradient L1 → Bhat 2023</a:t>
            </a:r>
          </a:p>
          <a:p>
            <a:pPr>
              <a:spcAft>
                <a:spcPts val="600"/>
              </a:spcAft>
              <a:defRPr sz="1400">
                <a:solidFill>
                  <a:srgbClr val="1F1A17"/>
                </a:solidFill>
              </a:defRPr>
            </a:pPr>
            <a:r>
              <a:t>• Pretrained checkpoints → Yang 2024 (HuggingFace)</a:t>
            </a:r>
          </a:p>
          <a:p>
            <a:pPr>
              <a:spcAft>
                <a:spcPts val="600"/>
              </a:spcAft>
              <a:defRPr sz="1400">
                <a:solidFill>
                  <a:srgbClr val="1F1A17"/>
                </a:solidFill>
              </a:defRPr>
            </a:pPr>
            <a:r>
              <a:t>• What we build new:</a:t>
            </a:r>
          </a:p>
          <a:p>
            <a:pPr>
              <a:spcAft>
                <a:spcPts val="600"/>
              </a:spcAft>
              <a:defRPr sz="1400">
                <a:solidFill>
                  <a:srgbClr val="1F1A17"/>
                </a:solidFill>
              </a:defRPr>
            </a:pPr>
            <a:r>
              <a:t>• Sweep harness, isolation, configs</a:t>
            </a:r>
          </a:p>
          <a:p>
            <a:pPr>
              <a:spcAft>
                <a:spcPts val="600"/>
              </a:spcAft>
              <a:defRPr sz="1400">
                <a:solidFill>
                  <a:srgbClr val="1F1A17"/>
                </a:solidFill>
              </a:defRPr>
            </a:pPr>
            <a:r>
              <a:t>• Three-axis controlled study (α, β, lr)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84425"/>
                </a:solidFill>
              </a:defRPr>
            </a:pPr>
            <a:r>
              <a:t>PROPOSED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1A17"/>
                </a:solidFill>
              </a:rPr>
              <a:t>Architecture</a:t>
            </a:r>
          </a:p>
          <a:p>
            <a:r>
              <a:rPr sz="1400">
                <a:solidFill>
                  <a:srgbClr val="645A54"/>
                </a:solidFill>
              </a:rPr>
              <a:t>Student Depth Anything Small  +  frozen Depth Anything Large teacher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Student: DINOv2 ViT-S/14 + DPT head, ~25M params, trainable</a:t>
            </a:r>
          </a:p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Teacher: DINOv2 ViT-L/14 + DPT head, ~335M params, frozen</a:t>
            </a:r>
          </a:p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Input: RGB 256×256, ImageNet mean/std normalization</a:t>
            </a:r>
          </a:p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Output: relative depth, bilinearly upsampled to GT size</a:t>
            </a:r>
          </a:p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All loss terms computed on aligned spatial size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8056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645A54"/>
                </a:solidFill>
              </a:defRPr>
            </a:pPr>
            <a:r>
              <a:t>• Why two models in parallel?</a:t>
            </a:r>
          </a:p>
          <a:p>
            <a:pPr>
              <a:spcAft>
                <a:spcPts val="600"/>
              </a:spcAft>
              <a:defRPr sz="1600">
                <a:solidFill>
                  <a:srgbClr val="645A54"/>
                </a:solidFill>
              </a:defRPr>
            </a:pPr>
            <a:r>
              <a:t>• The teacher provides a dense, low-noise per-pixel target on every training image</a:t>
            </a:r>
          </a:p>
          <a:p>
            <a:pPr>
              <a:spcAft>
                <a:spcPts val="600"/>
              </a:spcAft>
              <a:defRPr sz="1600">
                <a:solidFill>
                  <a:srgbClr val="645A54"/>
                </a:solidFill>
              </a:defRPr>
            </a:pPr>
            <a:r>
              <a:t>• Ground truth is sparse and noisy for far-field pixels; teacher complements it</a:t>
            </a:r>
          </a:p>
          <a:p>
            <a:pPr>
              <a:spcAft>
                <a:spcPts val="600"/>
              </a:spcAft>
              <a:defRPr sz="1600">
                <a:solidFill>
                  <a:srgbClr val="645A54"/>
                </a:solidFill>
              </a:defRPr>
            </a:pPr>
            <a:r>
              <a:t>• Frozen weights → deterministic supervision, no co-adaptation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84425"/>
                </a:solidFill>
              </a:defRPr>
            </a:pPr>
            <a:r>
              <a:t>PROPOSED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1A17"/>
                </a:solidFill>
              </a:rPr>
              <a:t>Loss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A84425"/>
                </a:solidFill>
              </a:defRPr>
            </a:pPr>
            <a:r>
              <a:t>L_total = (1 – α) · L_base(student, GT)  +  α · L_distill(student, teacher)  +  β · L_grad(student, GT)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L_base: affine-invariant L1 against NYU-v2 ground truth</a:t>
            </a:r>
          </a:p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L_distill: affine-invariant L1 against frozen teacher prediction</a:t>
            </a:r>
          </a:p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L_grad: multi-scale Sobel-style gradient L1 (scales 1, 2, 4)</a:t>
            </a:r>
          </a:p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Robust normalization: per-sample median + MAD before L1</a:t>
            </a:r>
          </a:p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Why MAD instead of std: stable under specular highlights, near-foreground outliers</a:t>
            </a:r>
          </a:p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α = 0 → pure supervised fine-tune     α = 1 → pure distillation</a:t>
            </a:r>
          </a:p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β controls boundary sharpness without affecting overall regression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84425"/>
                </a:solidFill>
              </a:defRPr>
            </a:pPr>
            <a:r>
              <a:t>PROPOSED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1A17"/>
                </a:solidFill>
              </a:rPr>
              <a:t>Training Procedure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7132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Optimizer: AdamW, weight decay 1e-4, grad clip @ L2 norm 1.0</a:t>
            </a:r>
          </a:p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Batch size: 1 (image_size=256 to fit 4 GB GPU)</a:t>
            </a:r>
          </a:p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Epochs: 2 (small-data PoC regime)</a:t>
            </a:r>
          </a:p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AMP mixed precision when CUDA available</a:t>
            </a:r>
          </a:p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Teacher loaded once, frozen, never updated</a:t>
            </a:r>
          </a:p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Validation AbsRel selects the best checkpoint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554480"/>
            <a:ext cx="3657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F1A17"/>
                </a:solidFill>
              </a:defRPr>
            </a:pPr>
            <a:r>
              <a:t>• Sweep harness:</a:t>
            </a:r>
          </a:p>
          <a:p>
            <a:pPr>
              <a:spcAft>
                <a:spcPts val="600"/>
              </a:spcAft>
              <a:defRPr sz="1500">
                <a:solidFill>
                  <a:srgbClr val="1F1A17"/>
                </a:solidFill>
              </a:defRPr>
            </a:pPr>
            <a:r>
              <a:t>• YAML grid → cartesian product</a:t>
            </a:r>
          </a:p>
          <a:p>
            <a:pPr>
              <a:spcAft>
                <a:spcPts val="600"/>
              </a:spcAft>
              <a:defRPr sz="1500">
                <a:solidFill>
                  <a:srgbClr val="1F1A17"/>
                </a:solidFill>
              </a:defRPr>
            </a:pPr>
            <a:r>
              <a:t>• Per-run isolated artifact folders</a:t>
            </a:r>
          </a:p>
          <a:p>
            <a:pPr>
              <a:spcAft>
                <a:spcPts val="600"/>
              </a:spcAft>
              <a:defRPr sz="1500">
                <a:solidFill>
                  <a:srgbClr val="1F1A17"/>
                </a:solidFill>
              </a:defRPr>
            </a:pPr>
            <a:r>
              <a:t>• Train + eval subprocesses</a:t>
            </a:r>
          </a:p>
          <a:p>
            <a:pPr>
              <a:spcAft>
                <a:spcPts val="600"/>
              </a:spcAft>
              <a:defRPr sz="1500">
                <a:solidFill>
                  <a:srgbClr val="1F1A17"/>
                </a:solidFill>
              </a:defRPr>
            </a:pPr>
            <a:r>
              <a:t>• Results aggregated to JSON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84425"/>
                </a:solidFill>
              </a:defRPr>
            </a:pPr>
            <a:r>
              <a:t>EXPERIMENTS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1A17"/>
                </a:solidFill>
              </a:rPr>
              <a:t>Datasets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2377440" cy="1143000"/>
          </a:xfrm>
          <a:prstGeom prst="rect">
            <a:avLst/>
          </a:prstGeom>
          <a:solidFill>
            <a:srgbClr val="FFFAF1"/>
          </a:solidFill>
          <a:ln>
            <a:solidFill>
              <a:srgbClr val="DCC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645A54"/>
                </a:solidFill>
              </a:defRPr>
            </a:pPr>
            <a:r>
              <a:t>NYU-v2 train</a:t>
            </a:r>
          </a:p>
          <a:p>
            <a:pPr algn="ctr">
              <a:defRPr sz="2600" b="1">
                <a:solidFill>
                  <a:srgbClr val="A84425"/>
                </a:solidFill>
              </a:defRPr>
            </a:pPr>
            <a:r>
              <a:t>450</a:t>
            </a:r>
          </a:p>
        </p:txBody>
      </p:sp>
      <p:sp>
        <p:nvSpPr>
          <p:cNvPr id="5" name="Rectangle 4"/>
          <p:cNvSpPr/>
          <p:nvPr/>
        </p:nvSpPr>
        <p:spPr>
          <a:xfrm>
            <a:off x="3291840" y="1097280"/>
            <a:ext cx="2377440" cy="1143000"/>
          </a:xfrm>
          <a:prstGeom prst="rect">
            <a:avLst/>
          </a:prstGeom>
          <a:solidFill>
            <a:srgbClr val="FFFAF1"/>
          </a:solidFill>
          <a:ln>
            <a:solidFill>
              <a:srgbClr val="DCC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645A54"/>
                </a:solidFill>
              </a:defRPr>
            </a:pPr>
            <a:r>
              <a:t>NYU-v2 val</a:t>
            </a:r>
          </a:p>
          <a:p>
            <a:pPr algn="ctr">
              <a:defRPr sz="2600" b="1">
                <a:solidFill>
                  <a:srgbClr val="A84425"/>
                </a:solidFill>
              </a:defRPr>
            </a:pPr>
            <a:r>
              <a:t>60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0" y="1097280"/>
            <a:ext cx="2377440" cy="1143000"/>
          </a:xfrm>
          <a:prstGeom prst="rect">
            <a:avLst/>
          </a:prstGeom>
          <a:solidFill>
            <a:srgbClr val="FFFAF1"/>
          </a:solidFill>
          <a:ln>
            <a:solidFill>
              <a:srgbClr val="DCC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645A54"/>
                </a:solidFill>
              </a:defRPr>
            </a:pPr>
            <a:r>
              <a:t>NYU-v2 test</a:t>
            </a:r>
          </a:p>
          <a:p>
            <a:pPr algn="ctr">
              <a:defRPr sz="2600" b="1">
                <a:solidFill>
                  <a:srgbClr val="A84425"/>
                </a:solidFill>
              </a:defRPr>
            </a:pPr>
            <a:r>
              <a:t>59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0" y="1097280"/>
            <a:ext cx="2377440" cy="1143000"/>
          </a:xfrm>
          <a:prstGeom prst="rect">
            <a:avLst/>
          </a:prstGeom>
          <a:solidFill>
            <a:srgbClr val="FFFAF1"/>
          </a:solidFill>
          <a:ln>
            <a:solidFill>
              <a:srgbClr val="DCC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645A54"/>
                </a:solidFill>
              </a:defRPr>
            </a:pPr>
            <a:r>
              <a:t>KITTI test</a:t>
            </a:r>
          </a:p>
          <a:p>
            <a:pPr algn="ctr">
              <a:defRPr sz="2600" b="1">
                <a:solidFill>
                  <a:srgbClr val="A84425"/>
                </a:solidFill>
              </a:defRPr>
            </a:pPr>
            <a:r>
              <a:t>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4320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NYU-v2 PoC subset from sayakpaul/nyu_depth_v2 (Hugging Face)</a:t>
            </a:r>
          </a:p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Float32 .npy depth in meters, range [0.001, 10.0] m</a:t>
            </a:r>
          </a:p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KITTI eigen subset from exander/kitti-depth-gt (Hugging Face)</a:t>
            </a:r>
          </a:p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Float32 .npy depth in meters, range [0.001, 80.0] m</a:t>
            </a:r>
          </a:p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Both evaluated at 256×256 for internal comparability</a:t>
            </a:r>
          </a:p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Test split sample IDs frozen across all runs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84425"/>
                </a:solidFill>
              </a:defRPr>
            </a:pPr>
            <a:r>
              <a:t>EXPERIMENTS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1A17"/>
                </a:solidFill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All metrics after per-image least-squares scale + shift alignment</a:t>
            </a:r>
          </a:p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AbsRel  = mean(|pred – gt| / gt)     [↓ lower better]</a:t>
            </a:r>
          </a:p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RMSE     = sqrt(mean((pred – gt)²))   [↓ lower better]</a:t>
            </a:r>
          </a:p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RMSE_log = sqrt(mean((log pred – log gt)²))     [↓ lower better]</a:t>
            </a:r>
          </a:p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log10    = mean(|log10 pred – log10 gt|)         [↓ lower better]</a:t>
            </a:r>
          </a:p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δ_1, δ_2, δ_3 = fraction with max(p/t, t/p) &lt; 1.25^n   [↑ higher better]</a:t>
            </a:r>
          </a:p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Headline numbers reported: AbsRel and δ_1 (per Depth Anything paper)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84425"/>
                </a:solidFill>
              </a:defRPr>
            </a:pPr>
            <a: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1A17"/>
                </a:solidFill>
              </a:rPr>
              <a:t>NYU-v2 PoC Test Results</a:t>
            </a:r>
          </a:p>
          <a:p>
            <a:r>
              <a:rPr sz="1400">
                <a:solidFill>
                  <a:srgbClr val="645A54"/>
                </a:solidFill>
              </a:rPr>
              <a:t>59 images, image_size 256, after scale+shift alignment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2377440" cy="1143000"/>
          </a:xfrm>
          <a:prstGeom prst="rect">
            <a:avLst/>
          </a:prstGeom>
          <a:solidFill>
            <a:srgbClr val="FFFAF1"/>
          </a:solidFill>
          <a:ln>
            <a:solidFill>
              <a:srgbClr val="DCC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645A54"/>
                </a:solidFill>
              </a:defRPr>
            </a:pPr>
            <a:r>
              <a:t>Zero-shot AbsRel</a:t>
            </a:r>
          </a:p>
          <a:p>
            <a:pPr algn="ctr">
              <a:defRPr sz="2600" b="1">
                <a:solidFill>
                  <a:srgbClr val="A84425"/>
                </a:solidFill>
              </a:defRPr>
            </a:pPr>
            <a:r>
              <a:t>0.1550</a:t>
            </a:r>
          </a:p>
        </p:txBody>
      </p:sp>
      <p:sp>
        <p:nvSpPr>
          <p:cNvPr id="5" name="Rectangle 4"/>
          <p:cNvSpPr/>
          <p:nvPr/>
        </p:nvSpPr>
        <p:spPr>
          <a:xfrm>
            <a:off x="3246120" y="1188720"/>
            <a:ext cx="2377440" cy="1143000"/>
          </a:xfrm>
          <a:prstGeom prst="rect">
            <a:avLst/>
          </a:prstGeom>
          <a:solidFill>
            <a:srgbClr val="FFFAF1"/>
          </a:solidFill>
          <a:ln>
            <a:solidFill>
              <a:srgbClr val="DCC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645A54"/>
                </a:solidFill>
              </a:defRPr>
            </a:pPr>
            <a:r>
              <a:t>Zero-shot δ_1</a:t>
            </a:r>
          </a:p>
          <a:p>
            <a:pPr algn="ctr">
              <a:defRPr sz="2600" b="1">
                <a:solidFill>
                  <a:srgbClr val="A84425"/>
                </a:solidFill>
              </a:defRPr>
            </a:pPr>
            <a:r>
              <a:t>0.8146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0" y="1188720"/>
            <a:ext cx="2377440" cy="1143000"/>
          </a:xfrm>
          <a:prstGeom prst="rect">
            <a:avLst/>
          </a:prstGeom>
          <a:solidFill>
            <a:srgbClr val="FFFAF1"/>
          </a:solidFill>
          <a:ln>
            <a:solidFill>
              <a:srgbClr val="DCC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645A54"/>
                </a:solidFill>
              </a:defRPr>
            </a:pPr>
            <a:r>
              <a:t>Default AbsRel</a:t>
            </a:r>
          </a:p>
          <a:p>
            <a:pPr algn="ctr">
              <a:defRPr sz="2600" b="1">
                <a:solidFill>
                  <a:srgbClr val="A83232"/>
                </a:solidFill>
              </a:defRPr>
            </a:pPr>
            <a:r>
              <a:t>0.2791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75320" y="1188720"/>
            <a:ext cx="2377440" cy="1143000"/>
          </a:xfrm>
          <a:prstGeom prst="rect">
            <a:avLst/>
          </a:prstGeom>
          <a:solidFill>
            <a:srgbClr val="FFFAF1"/>
          </a:solidFill>
          <a:ln>
            <a:solidFill>
              <a:srgbClr val="DCC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645A54"/>
                </a:solidFill>
              </a:defRPr>
            </a:pPr>
            <a:r>
              <a:t>Default δ_1</a:t>
            </a:r>
          </a:p>
          <a:p>
            <a:pPr algn="ctr">
              <a:defRPr sz="2600" b="1">
                <a:solidFill>
                  <a:srgbClr val="A83232"/>
                </a:solidFill>
              </a:defRPr>
            </a:pPr>
            <a:r>
              <a:t>0.6292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606040"/>
            <a:ext cx="2377440" cy="1143000"/>
          </a:xfrm>
          <a:prstGeom prst="rect">
            <a:avLst/>
          </a:prstGeom>
          <a:solidFill>
            <a:srgbClr val="FFFAF1"/>
          </a:solidFill>
          <a:ln>
            <a:solidFill>
              <a:srgbClr val="DCC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645A54"/>
                </a:solidFill>
              </a:defRPr>
            </a:pPr>
            <a:r>
              <a:t>Best AbsRel (ours)</a:t>
            </a:r>
          </a:p>
          <a:p>
            <a:pPr algn="ctr">
              <a:defRPr sz="2600" b="1">
                <a:solidFill>
                  <a:srgbClr val="387846"/>
                </a:solidFill>
              </a:defRPr>
            </a:pPr>
            <a:r>
              <a:t>0.1505</a:t>
            </a:r>
          </a:p>
        </p:txBody>
      </p:sp>
      <p:sp>
        <p:nvSpPr>
          <p:cNvPr id="9" name="Rectangle 8"/>
          <p:cNvSpPr/>
          <p:nvPr/>
        </p:nvSpPr>
        <p:spPr>
          <a:xfrm>
            <a:off x="3246120" y="2606040"/>
            <a:ext cx="2377440" cy="1143000"/>
          </a:xfrm>
          <a:prstGeom prst="rect">
            <a:avLst/>
          </a:prstGeom>
          <a:solidFill>
            <a:srgbClr val="FFFAF1"/>
          </a:solidFill>
          <a:ln>
            <a:solidFill>
              <a:srgbClr val="DCC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645A54"/>
                </a:solidFill>
              </a:defRPr>
            </a:pPr>
            <a:r>
              <a:t>Best δ_1 (ours)</a:t>
            </a:r>
          </a:p>
          <a:p>
            <a:pPr algn="ctr">
              <a:defRPr sz="2600" b="1">
                <a:solidFill>
                  <a:srgbClr val="387846"/>
                </a:solidFill>
              </a:defRPr>
            </a:pPr>
            <a:r>
              <a:t>0.8164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720" y="2606040"/>
            <a:ext cx="2377440" cy="1143000"/>
          </a:xfrm>
          <a:prstGeom prst="rect">
            <a:avLst/>
          </a:prstGeom>
          <a:solidFill>
            <a:srgbClr val="FFFAF1"/>
          </a:solidFill>
          <a:ln>
            <a:solidFill>
              <a:srgbClr val="DCC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645A54"/>
                </a:solidFill>
              </a:defRPr>
            </a:pPr>
            <a:r>
              <a:t>AbsRel Δ vs ZS</a:t>
            </a:r>
          </a:p>
          <a:p>
            <a:pPr algn="ctr">
              <a:defRPr sz="2600" b="1">
                <a:solidFill>
                  <a:srgbClr val="387846"/>
                </a:solidFill>
              </a:defRPr>
            </a:pPr>
            <a:r>
              <a:t>–0.0045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75320" y="2606040"/>
            <a:ext cx="2377440" cy="1143000"/>
          </a:xfrm>
          <a:prstGeom prst="rect">
            <a:avLst/>
          </a:prstGeom>
          <a:solidFill>
            <a:srgbClr val="FFFAF1"/>
          </a:solidFill>
          <a:ln>
            <a:solidFill>
              <a:srgbClr val="DCC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645A54"/>
                </a:solidFill>
              </a:defRPr>
            </a:pPr>
            <a:r>
              <a:t>δ_1 Δ vs ZS</a:t>
            </a:r>
          </a:p>
          <a:p>
            <a:pPr algn="ctr">
              <a:defRPr sz="2600" b="1">
                <a:solidFill>
                  <a:srgbClr val="387846"/>
                </a:solidFill>
              </a:defRPr>
            </a:pPr>
            <a:r>
              <a:t>+0.0018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206240"/>
            <a:ext cx="105156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Default config (α=0.5, β=0.1, lr=1e-5): student COLLAPSES — AbsRel doubles</a:t>
            </a:r>
          </a:p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Best config (α=0.7, β=0.3, lr=1e-7): small but real improvement</a:t>
            </a:r>
          </a:p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Improvement is consistent across AbsRel, RMSE, δ_1, δ_2, δ_3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84425"/>
                </a:solidFill>
              </a:defRPr>
            </a:pPr>
            <a: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1A17"/>
                </a:solidFill>
              </a:rPr>
              <a:t>Training Collapse at Default Learning Rate</a:t>
            </a:r>
          </a:p>
          <a:p>
            <a:r>
              <a:rPr sz="1400">
                <a:solidFill>
                  <a:srgbClr val="645A54"/>
                </a:solidFill>
              </a:rPr>
              <a:t>Why we ran the sweep</a:t>
            </a:r>
          </a:p>
        </p:txBody>
      </p:sp>
      <p:pic>
        <p:nvPicPr>
          <p:cNvPr id="4" name="Picture 3" descr="loss_vs_epo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657600" cy="2438400"/>
          </a:xfrm>
          <a:prstGeom prst="rect">
            <a:avLst/>
          </a:prstGeom>
        </p:spPr>
      </p:pic>
      <p:pic>
        <p:nvPicPr>
          <p:cNvPr id="5" name="Picture 4" descr="val_absrel_vs_epo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371600"/>
            <a:ext cx="3657600" cy="2438400"/>
          </a:xfrm>
          <a:prstGeom prst="rect">
            <a:avLst/>
          </a:prstGeom>
        </p:spPr>
      </p:pic>
      <p:pic>
        <p:nvPicPr>
          <p:cNvPr id="6" name="Picture 5" descr="val_delta1_vs_epo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1371600"/>
            <a:ext cx="3657600" cy="2438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0292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5A54"/>
                </a:solidFill>
              </a:defRPr>
            </a:pPr>
            <a:r>
              <a:t>Train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50292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5A54"/>
                </a:solidFill>
              </a:defRPr>
            </a:pPr>
            <a:r>
              <a:t>Val AbsRel — returns to ~1.0 at epoch 2 (collapse)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50292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5A54"/>
                </a:solidFill>
              </a:defRPr>
            </a:pPr>
            <a:r>
              <a:t>Val δ_1 — drops to 0.0 at epoch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4864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F1A17"/>
                </a:solidFill>
              </a:defRPr>
            </a:pPr>
            <a:r>
              <a:t>• Signature: student output saturates to a near-constant value</a:t>
            </a:r>
          </a:p>
          <a:p>
            <a:pPr>
              <a:spcAft>
                <a:spcPts val="600"/>
              </a:spcAft>
              <a:defRPr sz="1500">
                <a:solidFill>
                  <a:srgbClr val="1F1A17"/>
                </a:solidFill>
              </a:defRPr>
            </a:pPr>
            <a:r>
              <a:t>• Triggered by (small batch=1) + (small training set 450 imgs) + (high lr 1e-5)</a:t>
            </a:r>
          </a:p>
          <a:p>
            <a:pPr>
              <a:spcAft>
                <a:spcPts val="600"/>
              </a:spcAft>
              <a:defRPr sz="1500">
                <a:solidFill>
                  <a:srgbClr val="1F1A17"/>
                </a:solidFill>
              </a:defRPr>
            </a:pPr>
            <a:r>
              <a:t>• Fix: drop the learning rate by 2 orders of magnitude → fully recovers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84425"/>
                </a:solidFill>
              </a:defRPr>
            </a:pPr>
            <a:r>
              <a:t>ABLATION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1A17"/>
                </a:solidFill>
              </a:rPr>
              <a:t>Distillation Weight α Sweep</a:t>
            </a:r>
          </a:p>
          <a:p>
            <a:r>
              <a:rPr sz="1400">
                <a:solidFill>
                  <a:srgbClr val="645A54"/>
                </a:solidFill>
              </a:rPr>
              <a:t>β=0.1, lr=1e-5 fixed</a:t>
            </a:r>
          </a:p>
        </p:txBody>
      </p:sp>
      <p:pic>
        <p:nvPicPr>
          <p:cNvPr id="4" name="Picture 3" descr="abs_rel_vs_alp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5669280" cy="3779520"/>
          </a:xfrm>
          <a:prstGeom prst="rect">
            <a:avLst/>
          </a:prstGeom>
        </p:spPr>
      </p:pic>
      <p:pic>
        <p:nvPicPr>
          <p:cNvPr id="5" name="Picture 4" descr="delta1_vs_alp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280160"/>
            <a:ext cx="5669280" cy="3779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30352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5A54"/>
                </a:solidFill>
              </a:defRPr>
            </a:pPr>
            <a:r>
              <a:t>AbsRel vs α (↓ lower better)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530352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5A54"/>
                </a:solidFill>
              </a:defRPr>
            </a:pPr>
            <a:r>
              <a:t>δ_1 vs α (↑ higher better)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76072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F1A17"/>
                </a:solidFill>
              </a:defRPr>
            </a:pPr>
            <a:r>
              <a:t>• Sweep range: α ∈ {0.0, 0.3, 0.5, 0.7, 1.0}</a:t>
            </a:r>
          </a:p>
          <a:p>
            <a:pPr>
              <a:spcAft>
                <a:spcPts val="600"/>
              </a:spcAft>
              <a:defRPr sz="1500">
                <a:solidFill>
                  <a:srgbClr val="1F1A17"/>
                </a:solidFill>
              </a:defRPr>
            </a:pPr>
            <a:r>
              <a:t>• Best within sweep: α=0.7  →  AbsRel 0.202, δ_1 0.722</a:t>
            </a:r>
          </a:p>
          <a:p>
            <a:pPr>
              <a:spcAft>
                <a:spcPts val="600"/>
              </a:spcAft>
              <a:defRPr sz="1500">
                <a:solidFill>
                  <a:srgbClr val="1F1A17"/>
                </a:solidFill>
              </a:defRPr>
            </a:pPr>
            <a:r>
              <a:t>• Every point still WORSE than zero-shot (AbsRel 0.155) at this learning rate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84425"/>
                </a:solidFill>
              </a:defRPr>
            </a:pPr>
            <a:r>
              <a:t>ABLATION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1A17"/>
                </a:solidFill>
              </a:rPr>
              <a:t>Learning Rate Sweep</a:t>
            </a:r>
          </a:p>
          <a:p>
            <a:r>
              <a:rPr sz="1400">
                <a:solidFill>
                  <a:srgbClr val="645A54"/>
                </a:solidFill>
              </a:rPr>
              <a:t>α=0.7, β=0.1 fixed   —   the dominant hyperparameter</a:t>
            </a:r>
          </a:p>
        </p:txBody>
      </p:sp>
      <p:pic>
        <p:nvPicPr>
          <p:cNvPr id="4" name="Picture 3" descr="abs_rel_vs_learning_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5669280" cy="3779520"/>
          </a:xfrm>
          <a:prstGeom prst="rect">
            <a:avLst/>
          </a:prstGeom>
        </p:spPr>
      </p:pic>
      <p:pic>
        <p:nvPicPr>
          <p:cNvPr id="5" name="Picture 4" descr="delta1_vs_learning_r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280160"/>
            <a:ext cx="5669280" cy="3779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30352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5A54"/>
                </a:solidFill>
              </a:defRPr>
            </a:pPr>
            <a:r>
              <a:t>AbsRel vs learning 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530352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5A54"/>
                </a:solidFill>
              </a:defRPr>
            </a:pPr>
            <a:r>
              <a:t>δ_1 vs learning 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76072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F1A17"/>
                </a:solidFill>
              </a:defRPr>
            </a:pPr>
            <a:r>
              <a:t>• lr=1e-7 → AbsRel 0.151    lr=1e-6 → 0.151    lr=5e-6 → 0.174    lr=1e-5 → 0.186</a:t>
            </a:r>
          </a:p>
          <a:p>
            <a:pPr>
              <a:spcAft>
                <a:spcPts val="600"/>
              </a:spcAft>
              <a:defRPr sz="1500">
                <a:solidFill>
                  <a:srgbClr val="1F1A17"/>
                </a:solidFill>
              </a:defRPr>
            </a:pPr>
            <a:r>
              <a:t>• Sharp transition between 1e-6 and 5e-6 — below = stable, above = drift</a:t>
            </a:r>
          </a:p>
          <a:p>
            <a:pPr>
              <a:spcAft>
                <a:spcPts val="600"/>
              </a:spcAft>
              <a:defRPr sz="1500">
                <a:solidFill>
                  <a:srgbClr val="1F1A17"/>
                </a:solidFill>
              </a:defRPr>
            </a:pPr>
            <a:r>
              <a:t>• Main paper finding: lr is the dominant lever, dominates α and β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84425"/>
                </a:solidFill>
              </a:defRPr>
            </a:pPr>
            <a:r>
              <a:t>ABLATION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1A17"/>
                </a:solidFill>
              </a:rPr>
              <a:t>Gradient Weight β Sweep</a:t>
            </a:r>
          </a:p>
          <a:p>
            <a:r>
              <a:rPr sz="1400">
                <a:solidFill>
                  <a:srgbClr val="645A54"/>
                </a:solidFill>
              </a:rPr>
              <a:t>α=0.7, lr=1e-7 fixed   —   second-order effect</a:t>
            </a:r>
          </a:p>
        </p:txBody>
      </p:sp>
      <p:pic>
        <p:nvPicPr>
          <p:cNvPr id="4" name="Picture 3" descr="abs_rel_vs_grad_we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144000" cy="609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530352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5A54"/>
                </a:solidFill>
              </a:defRPr>
            </a:pPr>
            <a:r>
              <a:t>AbsRel vs β (↓ lower better)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76072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F1A17"/>
                </a:solidFill>
              </a:defRPr>
            </a:pPr>
            <a:r>
              <a:t>• β=0.0 → 0.152    β=0.1 → 0.152    β=0.3 → 0.150</a:t>
            </a:r>
          </a:p>
          <a:p>
            <a:pPr>
              <a:spcAft>
                <a:spcPts val="600"/>
              </a:spcAft>
              <a:defRPr sz="1500">
                <a:solidFill>
                  <a:srgbClr val="1F1A17"/>
                </a:solidFill>
              </a:defRPr>
            </a:pPr>
            <a:r>
              <a:t>• Direction is correct but the effect is small once lr is stabilized</a:t>
            </a:r>
          </a:p>
          <a:p>
            <a:pPr>
              <a:spcAft>
                <a:spcPts val="600"/>
              </a:spcAft>
              <a:defRPr sz="1500">
                <a:solidFill>
                  <a:srgbClr val="1F1A17"/>
                </a:solidFill>
              </a:defRPr>
            </a:pPr>
            <a:r>
              <a:t>• Gradient loss helps boundaries; quantitative impact is modest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84425"/>
                </a:solidFill>
              </a:defRPr>
            </a:pPr>
            <a: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1A17"/>
                </a:solidFill>
              </a:rPr>
              <a:t>Qualitative Examples</a:t>
            </a:r>
          </a:p>
          <a:p>
            <a:r>
              <a:rPr sz="1400">
                <a:solidFill>
                  <a:srgbClr val="645A54"/>
                </a:solidFill>
              </a:rPr>
              <a:t>NYU-v2 — RGB | GT | Pred | Error</a:t>
            </a:r>
          </a:p>
        </p:txBody>
      </p:sp>
      <p:pic>
        <p:nvPicPr>
          <p:cNvPr id="4" name="Picture 3" descr="compare_000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5760720" cy="1440180"/>
          </a:xfrm>
          <a:prstGeom prst="rect">
            <a:avLst/>
          </a:prstGeom>
        </p:spPr>
      </p:pic>
      <p:pic>
        <p:nvPicPr>
          <p:cNvPr id="5" name="Picture 4" descr="compare_0000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760720" cy="1440180"/>
          </a:xfrm>
          <a:prstGeom prst="rect">
            <a:avLst/>
          </a:prstGeom>
        </p:spPr>
      </p:pic>
      <p:pic>
        <p:nvPicPr>
          <p:cNvPr id="6" name="Picture 5" descr="compare_0000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3566160"/>
            <a:ext cx="5760720" cy="1440180"/>
          </a:xfrm>
          <a:prstGeom prst="rect">
            <a:avLst/>
          </a:prstGeom>
        </p:spPr>
      </p:pic>
      <p:pic>
        <p:nvPicPr>
          <p:cNvPr id="7" name="Picture 6" descr="compare_0000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3566160"/>
            <a:ext cx="5760720" cy="14401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585216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5A54"/>
                </a:solidFill>
              </a:defRPr>
            </a:pPr>
            <a:r>
              <a:t>Sample 000 — office scene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585216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5A54"/>
                </a:solidFill>
              </a:defRPr>
            </a:pPr>
            <a:r>
              <a:t>Sample 010 — kitchen counter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645A54"/>
                </a:solidFill>
              </a:defRPr>
            </a:pPr>
            <a:r>
              <a:t>• Scene structure preserved; error concentrates at depth discontinuities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84425"/>
                </a:solidFill>
              </a:defRPr>
            </a:pPr>
            <a:r>
              <a:t>CROSS-DOMAIN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1A17"/>
                </a:solidFill>
              </a:rPr>
              <a:t>KITTI Cross-Domain Evaluation</a:t>
            </a:r>
          </a:p>
          <a:p>
            <a:r>
              <a:rPr sz="1400">
                <a:solidFill>
                  <a:srgbClr val="645A54"/>
                </a:solidFill>
              </a:rPr>
              <a:t>100 outdoor frames — trained only on NYU-v2 indoor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2377440" cy="1143000"/>
          </a:xfrm>
          <a:prstGeom prst="rect">
            <a:avLst/>
          </a:prstGeom>
          <a:solidFill>
            <a:srgbClr val="FFFAF1"/>
          </a:solidFill>
          <a:ln>
            <a:solidFill>
              <a:srgbClr val="DCC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645A54"/>
                </a:solidFill>
              </a:defRPr>
            </a:pPr>
            <a:r>
              <a:t>Zero-shot AbsRel</a:t>
            </a:r>
          </a:p>
          <a:p>
            <a:pPr algn="ctr">
              <a:defRPr sz="2600" b="1">
                <a:solidFill>
                  <a:srgbClr val="A84425"/>
                </a:solidFill>
              </a:defRPr>
            </a:pPr>
            <a:r>
              <a:t>0.4022</a:t>
            </a:r>
          </a:p>
        </p:txBody>
      </p:sp>
      <p:sp>
        <p:nvSpPr>
          <p:cNvPr id="5" name="Rectangle 4"/>
          <p:cNvSpPr/>
          <p:nvPr/>
        </p:nvSpPr>
        <p:spPr>
          <a:xfrm>
            <a:off x="3246120" y="1280160"/>
            <a:ext cx="2377440" cy="1143000"/>
          </a:xfrm>
          <a:prstGeom prst="rect">
            <a:avLst/>
          </a:prstGeom>
          <a:solidFill>
            <a:srgbClr val="FFFAF1"/>
          </a:solidFill>
          <a:ln>
            <a:solidFill>
              <a:srgbClr val="DCC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645A54"/>
                </a:solidFill>
              </a:defRPr>
            </a:pPr>
            <a:r>
              <a:t>Distill AbsRel</a:t>
            </a:r>
          </a:p>
          <a:p>
            <a:pPr algn="ctr">
              <a:defRPr sz="2600" b="1">
                <a:solidFill>
                  <a:srgbClr val="A84425"/>
                </a:solidFill>
              </a:defRPr>
            </a:pPr>
            <a:r>
              <a:t>0.4035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0" y="1280160"/>
            <a:ext cx="2377440" cy="1143000"/>
          </a:xfrm>
          <a:prstGeom prst="rect">
            <a:avLst/>
          </a:prstGeom>
          <a:solidFill>
            <a:srgbClr val="FFFAF1"/>
          </a:solidFill>
          <a:ln>
            <a:solidFill>
              <a:srgbClr val="DCC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645A54"/>
                </a:solidFill>
              </a:defRPr>
            </a:pPr>
            <a:r>
              <a:t>Zero-shot δ_1</a:t>
            </a:r>
          </a:p>
          <a:p>
            <a:pPr algn="ctr">
              <a:defRPr sz="2600" b="1">
                <a:solidFill>
                  <a:srgbClr val="A84425"/>
                </a:solidFill>
              </a:defRPr>
            </a:pPr>
            <a:r>
              <a:t>0.3555</a:t>
            </a:r>
          </a:p>
        </p:txBody>
      </p:sp>
      <p:sp>
        <p:nvSpPr>
          <p:cNvPr id="7" name="Rectangle 6"/>
          <p:cNvSpPr/>
          <p:nvPr/>
        </p:nvSpPr>
        <p:spPr>
          <a:xfrm>
            <a:off x="8275320" y="1280160"/>
            <a:ext cx="2377440" cy="1143000"/>
          </a:xfrm>
          <a:prstGeom prst="rect">
            <a:avLst/>
          </a:prstGeom>
          <a:solidFill>
            <a:srgbClr val="FFFAF1"/>
          </a:solidFill>
          <a:ln>
            <a:solidFill>
              <a:srgbClr val="DCC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645A54"/>
                </a:solidFill>
              </a:defRPr>
            </a:pPr>
            <a:r>
              <a:t>Distill δ_1</a:t>
            </a:r>
          </a:p>
          <a:p>
            <a:pPr algn="ctr">
              <a:defRPr sz="2600" b="1">
                <a:solidFill>
                  <a:srgbClr val="A84425"/>
                </a:solidFill>
              </a:defRPr>
            </a:pPr>
            <a:r>
              <a:t>0.3485</a:t>
            </a:r>
          </a:p>
        </p:txBody>
      </p:sp>
      <p:pic>
        <p:nvPicPr>
          <p:cNvPr id="8" name="Picture 7" descr="kitti_input_0000000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2926080"/>
            <a:ext cx="4114800" cy="1242391"/>
          </a:xfrm>
          <a:prstGeom prst="rect">
            <a:avLst/>
          </a:prstGeom>
        </p:spPr>
      </p:pic>
      <p:pic>
        <p:nvPicPr>
          <p:cNvPr id="9" name="Picture 8" descr="kitti_depth_00000000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2926080"/>
            <a:ext cx="4114800" cy="12423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585216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5A54"/>
                </a:solidFill>
              </a:defRPr>
            </a:pPr>
            <a:r>
              <a:t>KITTI RGB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585216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5A54"/>
                </a:solidFill>
              </a:defRPr>
            </a:pPr>
            <a:r>
              <a:t>Predicted depth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645A54"/>
                </a:solidFill>
              </a:defRPr>
            </a:pPr>
            <a:r>
              <a:t>• NYU-v2 improvement does NOT transfer to KITTI — essentially identical numbers</a:t>
            </a:r>
          </a:p>
          <a:p>
            <a:pPr>
              <a:spcAft>
                <a:spcPts val="600"/>
              </a:spcAft>
              <a:defRPr sz="1300">
                <a:solidFill>
                  <a:srgbClr val="645A54"/>
                </a:solidFill>
              </a:defRPr>
            </a:pPr>
            <a:r>
              <a:t>• Consequence of extreme-conservative recipe: encoder barely moves from pretrained init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84425"/>
                </a:solidFill>
              </a:defRPr>
            </a:pPr>
            <a: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1A17"/>
                </a:solidFill>
              </a:rP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The dominant variable is the learning rate, not the loss balance</a:t>
            </a:r>
          </a:p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Variance from α sweep: 0.09 AbsRel  vs  variance from lr sweep: 0.03 AbsRel</a:t>
            </a:r>
          </a:p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But the lr range covers the difference between 'worse than ZS' and 'better than ZS'</a:t>
            </a:r>
          </a:p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Improvement is small because lr=1e-7 keeps the encoder near initialization</a:t>
            </a:r>
          </a:p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What would unlock more: larger effective batch, cross-context distillation (He 2025), more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7548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645A54"/>
                </a:solidFill>
              </a:defRPr>
            </a:pPr>
            <a:r>
              <a:t>• Limitations:</a:t>
            </a:r>
          </a:p>
          <a:p>
            <a:pPr>
              <a:spcAft>
                <a:spcPts val="600"/>
              </a:spcAft>
              <a:defRPr sz="1500">
                <a:solidFill>
                  <a:srgbClr val="645A54"/>
                </a:solidFill>
              </a:defRPr>
            </a:pPr>
            <a:r>
              <a:t>• Evaluation at 256×256 inflates absolute KITTI numbers vs leaderboards</a:t>
            </a:r>
          </a:p>
          <a:p>
            <a:pPr>
              <a:spcAft>
                <a:spcPts val="600"/>
              </a:spcAft>
              <a:defRPr sz="1500">
                <a:solidFill>
                  <a:srgbClr val="645A54"/>
                </a:solidFill>
              </a:defRPr>
            </a:pPr>
            <a:r>
              <a:t>• Cross-domain test is a single OOD distribution</a:t>
            </a:r>
          </a:p>
          <a:p>
            <a:pPr>
              <a:spcAft>
                <a:spcPts val="600"/>
              </a:spcAft>
              <a:defRPr sz="1500">
                <a:solidFill>
                  <a:srgbClr val="645A54"/>
                </a:solidFill>
              </a:defRPr>
            </a:pPr>
            <a:r>
              <a:t>• Single GPU, single seed per grid point; no variance estimate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84425"/>
                </a:solidFill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1A17"/>
                </a:solidFill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Built clean open-source pipeline: Depth Anything Small student + Large teacher</a:t>
            </a:r>
          </a:p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Three losses: affine-invariant base, affine-invariant distill, multi-scale gradient</a:t>
            </a:r>
          </a:p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Three-axis sweep: α (distill weight), β (grad weight), learning rate</a:t>
            </a:r>
          </a:p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Empirically tuned config slightly beats pretrained zero-shot on NYU-v2</a:t>
            </a:r>
          </a:p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No cross-domain transfer to KITTI at our conservative learning rate</a:t>
            </a:r>
          </a:p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Headline finding: lr-sensitivity, not loss balance, dominates small-data distillation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4864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A84425"/>
                </a:solidFill>
              </a:defRPr>
            </a:pPr>
            <a:r>
              <a:t>• GitHub: https://github.com/arassal/depth-project</a:t>
            </a:r>
          </a:p>
          <a:p>
            <a:pPr>
              <a:spcAft>
                <a:spcPts val="600"/>
              </a:spcAft>
              <a:defRPr sz="1600">
                <a:solidFill>
                  <a:srgbClr val="A84425"/>
                </a:solidFill>
              </a:defRPr>
            </a:pPr>
            <a:r>
              <a:t>• Demo: ./run_upload_demo.sh  →  http://127.0.0.1:8000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84425"/>
                </a:solidFill>
              </a:defRPr>
            </a:pPr>
            <a:r>
              <a:t>ACKNOWLEDGEMENTS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1A17"/>
                </a:solidFill>
              </a:rPr>
              <a:t>Contributions  &amp;  Thanks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Alexander Assal: pipeline implementation, distillation hook, gradient loss, sweep harness, web demo, analysis</a:t>
            </a:r>
          </a:p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Parsa Ghasemi: literature survey, dataset preparation, qualitative analysis, figures, manuscript drafting</a:t>
            </a:r>
          </a:p>
          <a:p>
            <a:pPr>
              <a:spcAft>
                <a:spcPts val="600"/>
              </a:spcAft>
              <a:defRPr sz="1800">
                <a:solidFill>
                  <a:srgbClr val="1F1A17"/>
                </a:solidFill>
              </a:defRPr>
            </a:pPr>
            <a:r>
              <a:t>• Both authors: manuscript &amp;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49039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645A54"/>
                </a:solidFill>
              </a:defRPr>
            </a:pPr>
            <a:r>
              <a:t>• References we depend on:</a:t>
            </a:r>
          </a:p>
          <a:p>
            <a:pPr>
              <a:spcAft>
                <a:spcPts val="600"/>
              </a:spcAft>
              <a:defRPr sz="1500">
                <a:solidFill>
                  <a:srgbClr val="645A54"/>
                </a:solidFill>
              </a:defRPr>
            </a:pPr>
            <a:r>
              <a:t>• Depth Anything — Yang et al., CVPR 2024</a:t>
            </a:r>
          </a:p>
          <a:p>
            <a:pPr>
              <a:spcAft>
                <a:spcPts val="600"/>
              </a:spcAft>
              <a:defRPr sz="1500">
                <a:solidFill>
                  <a:srgbClr val="645A54"/>
                </a:solidFill>
              </a:defRPr>
            </a:pPr>
            <a:r>
              <a:t>• Distill-Any-Depth — He et al., arXiv 2025</a:t>
            </a:r>
          </a:p>
          <a:p>
            <a:pPr>
              <a:spcAft>
                <a:spcPts val="600"/>
              </a:spcAft>
              <a:defRPr sz="1500">
                <a:solidFill>
                  <a:srgbClr val="645A54"/>
                </a:solidFill>
              </a:defRPr>
            </a:pPr>
            <a:r>
              <a:t>• ZoeDepth — Bhat et al., arXiv 2023</a:t>
            </a:r>
          </a:p>
          <a:p>
            <a:pPr>
              <a:spcAft>
                <a:spcPts val="600"/>
              </a:spcAft>
              <a:defRPr sz="1500">
                <a:solidFill>
                  <a:srgbClr val="645A54"/>
                </a:solidFill>
              </a:defRPr>
            </a:pPr>
            <a:r>
              <a:t>• DPT — Ranftl et al., ICCV 2021</a:t>
            </a:r>
          </a:p>
          <a:p>
            <a:pPr>
              <a:spcAft>
                <a:spcPts val="600"/>
              </a:spcAft>
              <a:defRPr sz="1500">
                <a:solidFill>
                  <a:srgbClr val="645A54"/>
                </a:solidFill>
              </a:defRPr>
            </a:pPr>
            <a:r>
              <a:t>• DINOv2 — Oquab et al., arXiv 2023</a:t>
            </a:r>
          </a:p>
          <a:p>
            <a:pPr>
              <a:spcAft>
                <a:spcPts val="600"/>
              </a:spcAft>
              <a:defRPr sz="1500">
                <a:solidFill>
                  <a:srgbClr val="645A54"/>
                </a:solidFill>
              </a:defRPr>
            </a:pPr>
            <a:r>
              <a:t>• NYU-v2 — Silberman et al., ECCV 2012   •   KITTI — Geiger et al., IJRR 2013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1A17"/>
                </a:solidFill>
              </a:rPr>
              <a:t>Questions?</a:t>
            </a:r>
          </a:p>
          <a:p>
            <a:r>
              <a:rPr sz="1400">
                <a:solidFill>
                  <a:srgbClr val="645A54"/>
                </a:solidFill>
              </a:rPr>
              <a:t>Alexander Assal  •  Parsa Ghasemi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0"/>
            <a:ext cx="10515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A84425"/>
                </a:solidFill>
              </a:defRPr>
            </a:pPr>
            <a:r>
              <a:t>https://github.com/arassal/depth-project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